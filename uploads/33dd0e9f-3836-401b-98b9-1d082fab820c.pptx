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  <p:sldId id="258" r:id="rId3"/>
    <p:sldId id="259" r:id="rId4"/>
    <p:sldId id="260" r:id="rId5"/>
    <p:sldId id="261" r:id="rId6"/>
    <p:sldId id="256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82"/>
    <p:restoredTop sz="94678"/>
  </p:normalViewPr>
  <p:slideViewPr>
    <p:cSldViewPr snapToGrid="0" snapToObjects="1">
      <p:cViewPr>
        <p:scale>
          <a:sx n="92" d="100"/>
          <a:sy n="92" d="100"/>
        </p:scale>
        <p:origin x="144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556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512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138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591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871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960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547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754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024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2403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399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9CFD0-8FEB-BB4C-9469-A57A7CAC80F8}" type="datetimeFigureOut">
              <a:rPr kumimoji="1" lang="ko-KR" altLang="en-US" smtClean="0"/>
              <a:t>2026. 4. 17.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112D9-E70F-D54D-BDDF-F2BA1CE2FD0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906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CCC9C1-495F-624A-9B2C-073A2F7F3377}"/>
              </a:ext>
            </a:extLst>
          </p:cNvPr>
          <p:cNvGrpSpPr/>
          <p:nvPr/>
        </p:nvGrpSpPr>
        <p:grpSpPr>
          <a:xfrm>
            <a:off x="213916" y="360685"/>
            <a:ext cx="4739084" cy="1460964"/>
            <a:chOff x="153307" y="143692"/>
            <a:chExt cx="6792686" cy="151529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1CF49D0-20EA-C640-ADBF-8DB7B53C8A9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>
                  <a:solidFill>
                    <a:srgbClr val="C00000"/>
                  </a:solidFill>
                </a:rPr>
                <a:t>온수</a:t>
              </a:r>
              <a:r>
                <a:rPr kumimoji="1" lang="en-US" altLang="ko-KR" sz="1600" b="1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(425ml)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184AD-CEA5-B741-B73A-00BE2592A525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아메리카노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60AD07-DE05-4940-8279-2A7B26116E97}"/>
              </a:ext>
            </a:extLst>
          </p:cNvPr>
          <p:cNvGrpSpPr/>
          <p:nvPr/>
        </p:nvGrpSpPr>
        <p:grpSpPr>
          <a:xfrm>
            <a:off x="213916" y="1930610"/>
            <a:ext cx="4739084" cy="1460964"/>
            <a:chOff x="153307" y="143692"/>
            <a:chExt cx="6792686" cy="1515291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0833985-B272-DB42-A282-6F2504C2AFA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꿀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(425ml) =&gt; (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재료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섞어 투입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43B6CA-1784-824C-A4EE-B066655149FA}"/>
                </a:ext>
              </a:extLst>
            </p:cNvPr>
            <p:cNvSpPr txBox="1"/>
            <p:nvPr/>
          </p:nvSpPr>
          <p:spPr>
            <a:xfrm>
              <a:off x="153307" y="143692"/>
              <a:ext cx="247042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꿀아메리카노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28598DB-E488-4B47-83D4-A4BEFF848FC6}"/>
              </a:ext>
            </a:extLst>
          </p:cNvPr>
          <p:cNvGrpSpPr/>
          <p:nvPr/>
        </p:nvGrpSpPr>
        <p:grpSpPr>
          <a:xfrm>
            <a:off x="213916" y="3500535"/>
            <a:ext cx="4739084" cy="1460964"/>
            <a:chOff x="153307" y="143692"/>
            <a:chExt cx="6792686" cy="1515291"/>
          </a:xfrm>
        </p:grpSpPr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A889B274-3BF4-BA4A-AA04-96579CA0B6F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추출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헛개베이스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샷 투입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3889DE-1565-C241-A457-3B7646701E92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헛개리카노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74AF948-46A0-D345-B8EA-C7161A3281CB}"/>
              </a:ext>
            </a:extLst>
          </p:cNvPr>
          <p:cNvGrpSpPr/>
          <p:nvPr/>
        </p:nvGrpSpPr>
        <p:grpSpPr>
          <a:xfrm>
            <a:off x="213916" y="5070460"/>
            <a:ext cx="4739084" cy="1460964"/>
            <a:chOff x="153307" y="143692"/>
            <a:chExt cx="6792686" cy="1515291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10431EC8-795C-1243-8D20-4CE21CBFCBC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헤이즐넛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샷 투입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2A6447-5971-6443-B52B-26CF2EC19AA7}"/>
                </a:ext>
              </a:extLst>
            </p:cNvPr>
            <p:cNvSpPr txBox="1"/>
            <p:nvPr/>
          </p:nvSpPr>
          <p:spPr>
            <a:xfrm>
              <a:off x="153307" y="143692"/>
              <a:ext cx="365600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헤이즐넛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아메리카노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413BB96-FF0D-3345-A0CA-4CEDF57B3A9F}"/>
              </a:ext>
            </a:extLst>
          </p:cNvPr>
          <p:cNvGrpSpPr/>
          <p:nvPr/>
        </p:nvGrpSpPr>
        <p:grpSpPr>
          <a:xfrm>
            <a:off x="4987297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B3E1F2A3-9EEB-0B44-B2FB-B1E651BF7BE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바닐라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샷 투입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737BE6-5C68-4941-9C45-8B2828EFC412}"/>
                </a:ext>
              </a:extLst>
            </p:cNvPr>
            <p:cNvSpPr txBox="1"/>
            <p:nvPr/>
          </p:nvSpPr>
          <p:spPr>
            <a:xfrm>
              <a:off x="153307" y="143692"/>
              <a:ext cx="328837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바닐라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아메리카노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CE2214C-E718-004D-B249-17ADAB216560}"/>
              </a:ext>
            </a:extLst>
          </p:cNvPr>
          <p:cNvGrpSpPr/>
          <p:nvPr/>
        </p:nvGrpSpPr>
        <p:grpSpPr>
          <a:xfrm>
            <a:off x="4987297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29C4506-AB54-BE4B-938D-709B269F7D8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275ml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스팀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투입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963DCF-E2B2-E842-B145-FF4D1EA73BED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카페라떼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F67B852-64D5-184E-802F-2FE88989576A}"/>
              </a:ext>
            </a:extLst>
          </p:cNvPr>
          <p:cNvGrpSpPr/>
          <p:nvPr/>
        </p:nvGrpSpPr>
        <p:grpSpPr>
          <a:xfrm>
            <a:off x="4987297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6CB24886-4643-314F-917B-E839B476742C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225ml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스팀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투입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시나몬파우더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1AE83D-463A-5141-85DB-5F08A5427F69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카푸치노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3F25361-F0B2-8B4E-963A-41F17EEB1CE4}"/>
              </a:ext>
            </a:extLst>
          </p:cNvPr>
          <p:cNvGrpSpPr/>
          <p:nvPr/>
        </p:nvGrpSpPr>
        <p:grpSpPr>
          <a:xfrm>
            <a:off x="4987297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0EFD86EB-BC89-0E46-B8BE-CC56489E705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스팀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카라멜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우유 투입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거품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카라멜드리즐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5E847E-A5C9-224F-878D-811FB3AD0796}"/>
                </a:ext>
              </a:extLst>
            </p:cNvPr>
            <p:cNvSpPr txBox="1"/>
            <p:nvPr/>
          </p:nvSpPr>
          <p:spPr>
            <a:xfrm>
              <a:off x="153307" y="143692"/>
              <a:ext cx="283804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카라멜마끼아또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0073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CCC9C1-495F-624A-9B2C-073A2F7F3377}"/>
              </a:ext>
            </a:extLst>
          </p:cNvPr>
          <p:cNvGrpSpPr/>
          <p:nvPr/>
        </p:nvGrpSpPr>
        <p:grpSpPr>
          <a:xfrm>
            <a:off x="213916" y="360685"/>
            <a:ext cx="4739084" cy="1460964"/>
            <a:chOff x="153307" y="143692"/>
            <a:chExt cx="6792686" cy="151529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1CF49D0-20EA-C640-ADBF-8DB7B53C8A9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헤이즐럿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스팀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스팀 우유 투입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184AD-CEA5-B741-B73A-00BE2592A525}"/>
                </a:ext>
              </a:extLst>
            </p:cNvPr>
            <p:cNvSpPr txBox="1"/>
            <p:nvPr/>
          </p:nvSpPr>
          <p:spPr>
            <a:xfrm>
              <a:off x="153307" y="143692"/>
              <a:ext cx="255313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헤이즐넛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60AD07-DE05-4940-8279-2A7B26116E97}"/>
              </a:ext>
            </a:extLst>
          </p:cNvPr>
          <p:cNvGrpSpPr/>
          <p:nvPr/>
        </p:nvGrpSpPr>
        <p:grpSpPr>
          <a:xfrm>
            <a:off x="213916" y="1930610"/>
            <a:ext cx="4739084" cy="1460964"/>
            <a:chOff x="153307" y="143692"/>
            <a:chExt cx="6792686" cy="1515291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0833985-B272-DB42-A282-6F2504C2AFA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바닐라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스팀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스팀 우유 투입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43B6CA-1784-824C-A4EE-B066655149FA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바닐라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28598DB-E488-4B47-83D4-A4BEFF848FC6}"/>
              </a:ext>
            </a:extLst>
          </p:cNvPr>
          <p:cNvGrpSpPr/>
          <p:nvPr/>
        </p:nvGrpSpPr>
        <p:grpSpPr>
          <a:xfrm>
            <a:off x="213916" y="3500535"/>
            <a:ext cx="4739084" cy="1460964"/>
            <a:chOff x="153307" y="143692"/>
            <a:chExt cx="6792686" cy="1515291"/>
          </a:xfrm>
        </p:grpSpPr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A889B274-3BF4-BA4A-AA04-96579CA0B6F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스팀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스팀 우유 투입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시나몬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파우더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토핑여부확인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3889DE-1565-C241-A457-3B7646701E92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연유라떼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74AF948-46A0-D345-B8EA-C7161A3281CB}"/>
              </a:ext>
            </a:extLst>
          </p:cNvPr>
          <p:cNvGrpSpPr/>
          <p:nvPr/>
        </p:nvGrpSpPr>
        <p:grpSpPr>
          <a:xfrm>
            <a:off x="213916" y="5070460"/>
            <a:ext cx="4739084" cy="1460964"/>
            <a:chOff x="153307" y="143692"/>
            <a:chExt cx="6792686" cy="1515291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10431EC8-795C-1243-8D20-4CE21CBFCBC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샷 투입 후 섞음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스팀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스팀 우유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휘핑크림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(30g)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초코드리즐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원형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2A6447-5971-6443-B52B-26CF2EC19AA7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카페모카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B76FA12-EE60-A545-94E7-7D77030A8FA9}"/>
              </a:ext>
            </a:extLst>
          </p:cNvPr>
          <p:cNvGrpSpPr/>
          <p:nvPr/>
        </p:nvGrpSpPr>
        <p:grpSpPr>
          <a:xfrm>
            <a:off x="4998100" y="360685"/>
            <a:ext cx="4739084" cy="1460964"/>
            <a:chOff x="153307" y="143692"/>
            <a:chExt cx="6792686" cy="1515291"/>
          </a:xfrm>
        </p:grpSpPr>
        <p:sp>
          <p:nvSpPr>
            <p:cNvPr id="27" name="모서리가 둥근 직사각형 26">
              <a:extLst>
                <a:ext uri="{FF2B5EF4-FFF2-40B4-BE49-F238E27FC236}">
                  <a16:creationId xmlns:a16="http://schemas.microsoft.com/office/drawing/2014/main" id="{FC9E7341-67BF-4145-B29B-C2EA57F99F3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6D30C4-AFBD-DB41-BBCD-291B4076A6FA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CDFF160-C0C4-B847-BF7B-44CDC1C59D1A}"/>
              </a:ext>
            </a:extLst>
          </p:cNvPr>
          <p:cNvGrpSpPr/>
          <p:nvPr/>
        </p:nvGrpSpPr>
        <p:grpSpPr>
          <a:xfrm>
            <a:off x="4998100" y="1930610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A8F96FD4-B000-3443-B7BA-22CE49D159EA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AD5B719-8E0C-7340-81D5-01192176D439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7AFB212-4F4C-4840-9A34-38E854D9ECDD}"/>
              </a:ext>
            </a:extLst>
          </p:cNvPr>
          <p:cNvGrpSpPr/>
          <p:nvPr/>
        </p:nvGrpSpPr>
        <p:grpSpPr>
          <a:xfrm>
            <a:off x="4998100" y="3500535"/>
            <a:ext cx="4739084" cy="1460964"/>
            <a:chOff x="153307" y="143692"/>
            <a:chExt cx="6792686" cy="1515291"/>
          </a:xfrm>
        </p:grpSpPr>
        <p:sp>
          <p:nvSpPr>
            <p:cNvPr id="45" name="모서리가 둥근 직사각형 44">
              <a:extLst>
                <a:ext uri="{FF2B5EF4-FFF2-40B4-BE49-F238E27FC236}">
                  <a16:creationId xmlns:a16="http://schemas.microsoft.com/office/drawing/2014/main" id="{D1E00ED7-E425-C84B-B0AB-28AB599D38F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803CCF5-E347-3F4A-880C-7224C5BB0F15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6A979A3-6F25-A84F-9D04-0D31FB515776}"/>
              </a:ext>
            </a:extLst>
          </p:cNvPr>
          <p:cNvGrpSpPr/>
          <p:nvPr/>
        </p:nvGrpSpPr>
        <p:grpSpPr>
          <a:xfrm>
            <a:off x="4998100" y="5070460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21DE74FB-AA50-B04C-8497-43FEDB8B3D5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1A9D864-6849-8342-94F0-378C35DEFA16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95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(275ml)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아메리카노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샷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endParaRPr kumimoji="1"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1600" dirty="0">
                  <a:solidFill>
                    <a:schemeClr val="tx1"/>
                  </a:solidFill>
                </a:rPr>
                <a:t>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메가리카노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헛개베이스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endParaRPr kumimoji="1"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1600" dirty="0">
                  <a:solidFill>
                    <a:schemeClr val="tx1"/>
                  </a:solidFill>
                </a:rPr>
                <a:t>정수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헛개리카노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샷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헛개베이스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endParaRPr kumimoji="1"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1600" dirty="0">
                  <a:solidFill>
                    <a:schemeClr val="tx1"/>
                  </a:solidFill>
                </a:rPr>
                <a:t>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(375m)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328837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왕메가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헛개리카노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꿀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8.5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247042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꿀아메리카노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9001C99-75A8-B046-BBB1-1A78D55BB7DC}"/>
              </a:ext>
            </a:extLst>
          </p:cNvPr>
          <p:cNvGrpSpPr/>
          <p:nvPr/>
        </p:nvGrpSpPr>
        <p:grpSpPr>
          <a:xfrm>
            <a:off x="4976893" y="1928262"/>
            <a:ext cx="4739084" cy="1460964"/>
            <a:chOff x="153307" y="143692"/>
            <a:chExt cx="6792686" cy="1515291"/>
          </a:xfrm>
        </p:grpSpPr>
        <p:sp>
          <p:nvSpPr>
            <p:cNvPr id="45" name="모서리가 둥근 직사각형 44">
              <a:extLst>
                <a:ext uri="{FF2B5EF4-FFF2-40B4-BE49-F238E27FC236}">
                  <a16:creationId xmlns:a16="http://schemas.microsoft.com/office/drawing/2014/main" id="{DD9499EA-57BD-DF4D-BEF0-8382ED453BB1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헤이즐넛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8.5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B493ED8-09E3-EC48-A47E-04D8A968B499}"/>
                </a:ext>
              </a:extLst>
            </p:cNvPr>
            <p:cNvSpPr txBox="1"/>
            <p:nvPr/>
          </p:nvSpPr>
          <p:spPr>
            <a:xfrm>
              <a:off x="153307" y="143692"/>
              <a:ext cx="365600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헤이즐넛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아메리카노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바닐라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8.5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328837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바닐라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아메리카노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카페라떼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481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endParaRPr kumimoji="1"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1600" dirty="0">
                  <a:solidFill>
                    <a:schemeClr val="tx1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왕메가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카페라떼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헤이즐넛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A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55313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헤이즐넛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바닐라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A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바닐라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라이트 바닐라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아몬드밀크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A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455667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라이트 바닐라 아몬드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A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연유라떼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9001C99-75A8-B046-BBB1-1A78D55BB7DC}"/>
              </a:ext>
            </a:extLst>
          </p:cNvPr>
          <p:cNvGrpSpPr/>
          <p:nvPr/>
        </p:nvGrpSpPr>
        <p:grpSpPr>
          <a:xfrm>
            <a:off x="4976893" y="1928262"/>
            <a:ext cx="4739084" cy="1460964"/>
            <a:chOff x="153307" y="143692"/>
            <a:chExt cx="6792686" cy="1515291"/>
          </a:xfrm>
        </p:grpSpPr>
        <p:sp>
          <p:nvSpPr>
            <p:cNvPr id="45" name="모서리가 둥근 직사각형 44">
              <a:extLst>
                <a:ext uri="{FF2B5EF4-FFF2-40B4-BE49-F238E27FC236}">
                  <a16:creationId xmlns:a16="http://schemas.microsoft.com/office/drawing/2014/main" id="{DD9499EA-57BD-DF4D-BEF0-8382ED453BB1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A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(200ml)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에스프레소 큐브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B493ED8-09E3-EC48-A47E-04D8A968B499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큐브라떼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75ml(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얼음컵선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A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(125m)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휘핑크림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(30g)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초코드리즐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원형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카페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모카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녹차베이스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75ml(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)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얼음컵선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(150m) =&gt;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우유 투입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초코드리즐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샷 투입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초코젤라또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스쿱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초코드리즐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지그재그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)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365600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초코젤라또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말차라떼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64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우유거품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(200ml)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endParaRPr kumimoji="1"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1600" dirty="0">
                  <a:solidFill>
                    <a:schemeClr val="tx1"/>
                  </a:solidFill>
                </a:rPr>
                <a:t>거품기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B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(150m)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거품 투입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(40g)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시나몬파우더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토핑여부확인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카푸치노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우유거품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(200ml)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샷잔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카라멜시럽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4P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샷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 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얼음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endParaRPr kumimoji="1" lang="en-US" altLang="ko-KR" sz="14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1400" dirty="0">
                  <a:solidFill>
                    <a:schemeClr val="tx1"/>
                  </a:solidFill>
                </a:rPr>
                <a:t>거품기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B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(150m)  +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거품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(40g) 2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서빙스푼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카라멜드리즐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지그재그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)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카라멜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마끼아또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할메가커피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베이스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(300ml)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할메가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커피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b="1" dirty="0">
                  <a:solidFill>
                    <a:srgbClr val="C00000"/>
                  </a:solidFill>
                </a:rPr>
                <a:t>32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할메가커피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베이스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(475ml)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247042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왕할메가커피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할메가커피베이스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300ml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곡물 파우더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283804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할메가미숫커피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125ml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초코베이스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175ml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약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55g)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가당딸기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(130g) 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커팅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얼음컵선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있는 재료 담기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딸기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젤라또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스쿱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딸기 소스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드리즐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(2g)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492429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딸기젤라또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퐁당 딥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초코라떼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200m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딸기밀크쉐이크파우더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5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딸기분태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가당딸기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(130g) +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커팅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얼음컵선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딸기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젤라또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스쿱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딸기 소스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드리즐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(2g)</a:t>
              </a:r>
              <a:endParaRPr kumimoji="1"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492429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말차젤라또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퐁당 딸기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dirty="0">
                <a:solidFill>
                  <a:srgbClr val="C00000"/>
                </a:solidFill>
              </a:rPr>
              <a:t>1</a:t>
            </a:r>
            <a:r>
              <a:rPr kumimoji="1" lang="ko-KR" altLang="en-US" sz="1600" dirty="0">
                <a:solidFill>
                  <a:schemeClr val="tx1"/>
                </a:solidFill>
              </a:rPr>
              <a:t>샷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20</a:t>
            </a:r>
            <a:r>
              <a:rPr kumimoji="1" lang="ko-KR" altLang="en-US" sz="1600" dirty="0">
                <a:solidFill>
                  <a:schemeClr val="tx1"/>
                </a:solidFill>
              </a:rPr>
              <a:t>컵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슈크림베이스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D</a:t>
            </a:r>
            <a:r>
              <a:rPr kumimoji="1" lang="ko-KR" altLang="en-US" sz="1600" b="1" dirty="0">
                <a:solidFill>
                  <a:srgbClr val="C00000"/>
                </a:solidFill>
              </a:rPr>
              <a:t>선</a:t>
            </a:r>
            <a:r>
              <a:rPr kumimoji="1" lang="en-US" altLang="ko-KR" sz="1600" dirty="0">
                <a:solidFill>
                  <a:schemeClr val="tx1"/>
                </a:solidFill>
              </a:rPr>
              <a:t>(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150g</a:t>
            </a:r>
            <a:r>
              <a:rPr kumimoji="1" lang="en-US" altLang="ko-KR" sz="1600" dirty="0">
                <a:solidFill>
                  <a:schemeClr val="tx1"/>
                </a:solidFill>
              </a:rPr>
              <a:t>) =&gt;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얼음가득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우유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8</a:t>
            </a:r>
            <a:r>
              <a:rPr kumimoji="1" lang="ko-KR" altLang="en-US" sz="1600" b="1" dirty="0">
                <a:solidFill>
                  <a:srgbClr val="C00000"/>
                </a:solidFill>
              </a:rPr>
              <a:t>부</a:t>
            </a:r>
            <a:r>
              <a:rPr kumimoji="1" lang="en-US" altLang="ko-KR" sz="1600" dirty="0">
                <a:solidFill>
                  <a:schemeClr val="tx1"/>
                </a:solidFill>
              </a:rPr>
              <a:t>(100m) </a:t>
            </a:r>
            <a:r>
              <a:rPr kumimoji="1" lang="ko-KR" altLang="en-US" sz="1600" dirty="0">
                <a:solidFill>
                  <a:schemeClr val="tx1"/>
                </a:solidFill>
              </a:rPr>
              <a:t>투입</a:t>
            </a:r>
            <a:r>
              <a:rPr kumimoji="1" lang="en-US" altLang="ko-KR" sz="1600" dirty="0">
                <a:solidFill>
                  <a:schemeClr val="tx1"/>
                </a:solidFill>
              </a:rPr>
              <a:t> =&gt; </a:t>
            </a:r>
            <a:r>
              <a:rPr kumimoji="1" lang="ko-KR" altLang="en-US" sz="1600" dirty="0">
                <a:solidFill>
                  <a:schemeClr val="tx1"/>
                </a:solidFill>
              </a:rPr>
              <a:t>샷 투입 섞음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초코젤라또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1</a:t>
            </a:r>
            <a:r>
              <a:rPr kumimoji="1" lang="ko-KR" altLang="en-US" sz="1600" b="1" dirty="0" err="1">
                <a:solidFill>
                  <a:srgbClr val="C00000"/>
                </a:solidFill>
              </a:rPr>
              <a:t>스쿱</a:t>
            </a:r>
            <a:endParaRPr kumimoji="1"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AFCBD-AD71-C846-A506-8A3E1CCA1852}"/>
              </a:ext>
            </a:extLst>
          </p:cNvPr>
          <p:cNvSpPr txBox="1"/>
          <p:nvPr/>
        </p:nvSpPr>
        <p:spPr>
          <a:xfrm>
            <a:off x="4976892" y="1911709"/>
            <a:ext cx="37497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커피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초코칩</a:t>
            </a:r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젤라또</a:t>
            </a:r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 슈크림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라떼</a:t>
            </a:r>
            <a:endParaRPr kumimoji="1" lang="en-US" altLang="ko-K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84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CCC9C1-495F-624A-9B2C-073A2F7F3377}"/>
              </a:ext>
            </a:extLst>
          </p:cNvPr>
          <p:cNvGrpSpPr/>
          <p:nvPr/>
        </p:nvGrpSpPr>
        <p:grpSpPr>
          <a:xfrm>
            <a:off x="213916" y="360685"/>
            <a:ext cx="4739084" cy="1460964"/>
            <a:chOff x="153307" y="143692"/>
            <a:chExt cx="6792686" cy="151529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1CF49D0-20EA-C640-ADBF-8DB7B53C8A9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184AD-CEA5-B741-B73A-00BE2592A525}"/>
                </a:ext>
              </a:extLst>
            </p:cNvPr>
            <p:cNvSpPr txBox="1"/>
            <p:nvPr/>
          </p:nvSpPr>
          <p:spPr>
            <a:xfrm>
              <a:off x="153307" y="143692"/>
              <a:ext cx="328837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오리지널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60AD07-DE05-4940-8279-2A7B26116E97}"/>
              </a:ext>
            </a:extLst>
          </p:cNvPr>
          <p:cNvGrpSpPr/>
          <p:nvPr/>
        </p:nvGrpSpPr>
        <p:grpSpPr>
          <a:xfrm>
            <a:off x="213916" y="1930610"/>
            <a:ext cx="4739084" cy="1460964"/>
            <a:chOff x="153307" y="143692"/>
            <a:chExt cx="6792686" cy="1515291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0833985-B272-DB42-A282-6F2504C2AFA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온도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80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도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투입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43B6CA-1784-824C-A4EE-B066655149FA}"/>
                </a:ext>
              </a:extLst>
            </p:cNvPr>
            <p:cNvSpPr txBox="1"/>
            <p:nvPr/>
          </p:nvSpPr>
          <p:spPr>
            <a:xfrm>
              <a:off x="153307" y="143692"/>
              <a:ext cx="255313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A10D482-6DCF-7347-B6FC-991894C0B4F2}"/>
              </a:ext>
            </a:extLst>
          </p:cNvPr>
          <p:cNvGrpSpPr/>
          <p:nvPr/>
        </p:nvGrpSpPr>
        <p:grpSpPr>
          <a:xfrm>
            <a:off x="5021445" y="360685"/>
            <a:ext cx="4739084" cy="1460964"/>
            <a:chOff x="153307" y="143692"/>
            <a:chExt cx="6792686" cy="1515291"/>
          </a:xfrm>
        </p:grpSpPr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01F2B1BF-D1B1-AA46-A6A5-F137198B4CFB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(75ml)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정수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F9328A-8ADB-4542-A77E-1CEF9F08E6A3}"/>
                </a:ext>
              </a:extLst>
            </p:cNvPr>
            <p:cNvSpPr txBox="1"/>
            <p:nvPr/>
          </p:nvSpPr>
          <p:spPr>
            <a:xfrm>
              <a:off x="153307" y="143692"/>
              <a:ext cx="328837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오리지널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9E946A-A398-9E4B-A520-405A2B1C52DE}"/>
              </a:ext>
            </a:extLst>
          </p:cNvPr>
          <p:cNvGrpSpPr/>
          <p:nvPr/>
        </p:nvGrpSpPr>
        <p:grpSpPr>
          <a:xfrm>
            <a:off x="5021445" y="1930610"/>
            <a:ext cx="4739084" cy="1460964"/>
            <a:chOff x="153307" y="143692"/>
            <a:chExt cx="6792686" cy="1515291"/>
          </a:xfrm>
        </p:grpSpPr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4987028A-1165-0E4F-8482-5DF3DFDC082C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(75ml)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089664-8846-AD4D-B885-1F2532A5A1AC}"/>
                </a:ext>
              </a:extLst>
            </p:cNvPr>
            <p:cNvSpPr txBox="1"/>
            <p:nvPr/>
          </p:nvSpPr>
          <p:spPr>
            <a:xfrm>
              <a:off x="153307" y="143692"/>
              <a:ext cx="255313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72D6607-F147-8E49-B8D8-04CA2C9AFFF7}"/>
              </a:ext>
            </a:extLst>
          </p:cNvPr>
          <p:cNvGrpSpPr/>
          <p:nvPr/>
        </p:nvGrpSpPr>
        <p:grpSpPr>
          <a:xfrm>
            <a:off x="211569" y="3509510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313B6AA5-2390-EC46-B71C-39EB87057C7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디카페인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9C1AB8-D365-944B-8129-137A37DA46E5}"/>
                </a:ext>
              </a:extLst>
            </p:cNvPr>
            <p:cNvSpPr txBox="1"/>
            <p:nvPr/>
          </p:nvSpPr>
          <p:spPr>
            <a:xfrm>
              <a:off x="153307" y="143692"/>
              <a:ext cx="328837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디카페인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EE54271-64DC-8C4F-B7A6-D7DACF3CE5E2}"/>
              </a:ext>
            </a:extLst>
          </p:cNvPr>
          <p:cNvGrpSpPr/>
          <p:nvPr/>
        </p:nvGrpSpPr>
        <p:grpSpPr>
          <a:xfrm>
            <a:off x="211569" y="5079435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10398A91-07A5-AF4C-AFB6-034A9A1D988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디카페인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온도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80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도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투입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F421EF-8F4B-6E44-8EF3-DF2E7F838180}"/>
                </a:ext>
              </a:extLst>
            </p:cNvPr>
            <p:cNvSpPr txBox="1"/>
            <p:nvPr/>
          </p:nvSpPr>
          <p:spPr>
            <a:xfrm>
              <a:off x="153307" y="143692"/>
              <a:ext cx="410633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디카페인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EB51804-2145-6B4E-ACC1-2CB59BCC59CB}"/>
              </a:ext>
            </a:extLst>
          </p:cNvPr>
          <p:cNvGrpSpPr/>
          <p:nvPr/>
        </p:nvGrpSpPr>
        <p:grpSpPr>
          <a:xfrm>
            <a:off x="5019098" y="3509510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48B1EBC2-1B43-9143-9684-518030FD819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디카페인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(75ml)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정수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E27CD88-1EB2-DE48-9F30-D7D40520F8EA}"/>
                </a:ext>
              </a:extLst>
            </p:cNvPr>
            <p:cNvSpPr txBox="1"/>
            <p:nvPr/>
          </p:nvSpPr>
          <p:spPr>
            <a:xfrm>
              <a:off x="153307" y="143692"/>
              <a:ext cx="328837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디카페인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B81D283-C829-BA4D-AF42-1DE14107936A}"/>
              </a:ext>
            </a:extLst>
          </p:cNvPr>
          <p:cNvGrpSpPr/>
          <p:nvPr/>
        </p:nvGrpSpPr>
        <p:grpSpPr>
          <a:xfrm>
            <a:off x="5019098" y="5079435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CDBB449-126F-1549-BA1B-9FE378B1FC31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콜드브루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디카페인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원액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(75ml)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54FCEE-CE21-F14F-B55B-40FC062F5A5C}"/>
                </a:ext>
              </a:extLst>
            </p:cNvPr>
            <p:cNvSpPr txBox="1"/>
            <p:nvPr/>
          </p:nvSpPr>
          <p:spPr>
            <a:xfrm>
              <a:off x="153307" y="143692"/>
              <a:ext cx="410633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콜드브루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디카페인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301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CCC9C1-495F-624A-9B2C-073A2F7F3377}"/>
              </a:ext>
            </a:extLst>
          </p:cNvPr>
          <p:cNvGrpSpPr/>
          <p:nvPr/>
        </p:nvGrpSpPr>
        <p:grpSpPr>
          <a:xfrm>
            <a:off x="213916" y="360685"/>
            <a:ext cx="4739084" cy="1460964"/>
            <a:chOff x="153307" y="143692"/>
            <a:chExt cx="6792686" cy="151529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1CF49D0-20EA-C640-ADBF-8DB7B53C8A9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녹차파우더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녹차파우더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184AD-CEA5-B741-B73A-00BE2592A525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녹차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60AD07-DE05-4940-8279-2A7B26116E97}"/>
              </a:ext>
            </a:extLst>
          </p:cNvPr>
          <p:cNvGrpSpPr/>
          <p:nvPr/>
        </p:nvGrpSpPr>
        <p:grpSpPr>
          <a:xfrm>
            <a:off x="213916" y="1930610"/>
            <a:ext cx="4739084" cy="1460964"/>
            <a:chOff x="153307" y="143692"/>
            <a:chExt cx="6792686" cy="1515291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0833985-B272-DB42-A282-6F2504C2AFA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홍차파우더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투입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43B6CA-1784-824C-A4EE-B066655149FA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로얄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밀크티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28598DB-E488-4B47-83D4-A4BEFF848FC6}"/>
              </a:ext>
            </a:extLst>
          </p:cNvPr>
          <p:cNvGrpSpPr/>
          <p:nvPr/>
        </p:nvGrpSpPr>
        <p:grpSpPr>
          <a:xfrm>
            <a:off x="213916" y="3500535"/>
            <a:ext cx="4739084" cy="1460964"/>
            <a:chOff x="153307" y="143692"/>
            <a:chExt cx="6792686" cy="1515291"/>
          </a:xfrm>
        </p:grpSpPr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A889B274-3BF4-BA4A-AA04-96579CA0B6F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코코아파우더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3889DE-1565-C241-A457-3B7646701E92}"/>
                </a:ext>
              </a:extLst>
            </p:cNvPr>
            <p:cNvSpPr txBox="1"/>
            <p:nvPr/>
          </p:nvSpPr>
          <p:spPr>
            <a:xfrm>
              <a:off x="153307" y="143692"/>
              <a:ext cx="136755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핫초코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74AF948-46A0-D345-B8EA-C7161A3281CB}"/>
              </a:ext>
            </a:extLst>
          </p:cNvPr>
          <p:cNvGrpSpPr/>
          <p:nvPr/>
        </p:nvGrpSpPr>
        <p:grpSpPr>
          <a:xfrm>
            <a:off x="213916" y="5070460"/>
            <a:ext cx="4739084" cy="1460964"/>
            <a:chOff x="153307" y="143692"/>
            <a:chExt cx="6792686" cy="1515291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10431EC8-795C-1243-8D20-4CE21CBFCBC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토피넛파우더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카라멜드리즐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지그재그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2A6447-5971-6443-B52B-26CF2EC19AA7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토피넛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413BB96-FF0D-3345-A0CA-4CEDF57B3A9F}"/>
              </a:ext>
            </a:extLst>
          </p:cNvPr>
          <p:cNvGrpSpPr/>
          <p:nvPr/>
        </p:nvGrpSpPr>
        <p:grpSpPr>
          <a:xfrm>
            <a:off x="4987297" y="360684"/>
            <a:ext cx="4739084" cy="3030889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B3E1F2A3-9EEB-0B44-B2FB-B1E651BF7BE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고구마페이스트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스쿱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275ml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반 투입 후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남은 우유 투입 후 거품 얹음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아몬드슬라이스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작은래들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737BE6-5C68-4941-9C45-8B2828EFC412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200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고구마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CE2214C-E718-004D-B249-17ADAB216560}"/>
              </a:ext>
            </a:extLst>
          </p:cNvPr>
          <p:cNvGrpSpPr/>
          <p:nvPr/>
        </p:nvGrpSpPr>
        <p:grpSpPr>
          <a:xfrm>
            <a:off x="4987297" y="3500535"/>
            <a:ext cx="4739084" cy="3030889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29C4506-AB54-BE4B-938D-709B269F7D8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곡물파우더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275ml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반 투입 후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남은 우유 투입 후 거품 얹음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아몬드슬라이스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작은래들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963DCF-E2B2-E842-B145-FF4D1EA73BED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200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곡물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562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녹차베이스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(75ml)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녹차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D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(130ml)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(150ml)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아이스초코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b="1" dirty="0">
                  <a:solidFill>
                    <a:srgbClr val="C00000"/>
                  </a:solidFill>
                </a:rPr>
                <a:t>32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I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240g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(275ml)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왕메가초코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가당딸기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커팅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(125ml)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딸기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곡물 파우더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곡물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고구마페이스트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스쿱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고구마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200ml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홍차파우더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로얄밀크티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 err="1">
                <a:solidFill>
                  <a:schemeClr val="tx1"/>
                </a:solidFill>
              </a:rPr>
              <a:t>블렌더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+</a:t>
            </a:r>
            <a:r>
              <a:rPr kumimoji="1" lang="ko-KR" altLang="en-US" sz="1600" dirty="0">
                <a:solidFill>
                  <a:schemeClr val="tx1"/>
                </a:solidFill>
              </a:rPr>
              <a:t> 우유</a:t>
            </a:r>
            <a:r>
              <a:rPr kumimoji="1" lang="ko-KR" altLang="en-US" sz="1600" b="1" dirty="0">
                <a:solidFill>
                  <a:srgbClr val="C00000"/>
                </a:solidFill>
              </a:rPr>
              <a:t>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250ml </a:t>
            </a:r>
            <a:r>
              <a:rPr kumimoji="1" lang="en-US" altLang="ko-KR" sz="1600" dirty="0">
                <a:solidFill>
                  <a:schemeClr val="tx1"/>
                </a:solidFill>
              </a:rPr>
              <a:t>+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토피넛</a:t>
            </a:r>
            <a:r>
              <a:rPr kumimoji="1" lang="ko-KR" altLang="en-US" sz="1600" dirty="0">
                <a:solidFill>
                  <a:schemeClr val="tx1"/>
                </a:solidFill>
              </a:rPr>
              <a:t> 파우더</a:t>
            </a:r>
            <a:r>
              <a:rPr kumimoji="1" lang="ko-KR" altLang="en-US" sz="1600" b="1" dirty="0">
                <a:solidFill>
                  <a:srgbClr val="C00000"/>
                </a:solidFill>
              </a:rPr>
              <a:t>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4</a:t>
            </a:r>
            <a:r>
              <a:rPr kumimoji="1" lang="ko-KR" altLang="en-US" sz="1600" b="1" dirty="0" err="1">
                <a:solidFill>
                  <a:srgbClr val="C00000"/>
                </a:solidFill>
              </a:rPr>
              <a:t>래들</a:t>
            </a:r>
            <a:r>
              <a:rPr kumimoji="1" lang="en-US" altLang="ko-KR" sz="1600" dirty="0">
                <a:solidFill>
                  <a:schemeClr val="tx1"/>
                </a:solidFill>
              </a:rPr>
              <a:t> 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믹싱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3</a:t>
            </a:r>
            <a:r>
              <a:rPr kumimoji="1" lang="ko-KR" altLang="en-US" sz="1600" dirty="0">
                <a:solidFill>
                  <a:schemeClr val="tx1"/>
                </a:solidFill>
              </a:rPr>
              <a:t>번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20</a:t>
            </a:r>
            <a:r>
              <a:rPr kumimoji="1" lang="ko-KR" altLang="en-US" sz="1600" dirty="0">
                <a:solidFill>
                  <a:schemeClr val="tx1"/>
                </a:solidFill>
              </a:rPr>
              <a:t>컵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얼음가득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컵에 담기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AFCBD-AD71-C846-A506-8A3E1CCA1852}"/>
              </a:ext>
            </a:extLst>
          </p:cNvPr>
          <p:cNvSpPr txBox="1"/>
          <p:nvPr/>
        </p:nvSpPr>
        <p:spPr>
          <a:xfrm>
            <a:off x="4976892" y="1911709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토피넛</a:t>
            </a:r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라떼</a:t>
            </a:r>
            <a:endParaRPr kumimoji="1" lang="en-US" altLang="ko-K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2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4990959" y="358337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초코베이스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50ml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오레오과자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초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흔들어서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오레오초코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3916" y="358337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흑당베이스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부까지 돌려주기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흑당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3916" y="1928262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흑당베이스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부까지 돌려주기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밀크티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2P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300347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흑당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밀크티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3916" y="3498187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흑당베이스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펄투입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부까지 돌려주기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263584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흑당 버블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213916" y="5068112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흑당베이스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펄투입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부까지 돌려주기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밀크티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우유가득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382142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흑당 버블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밀크티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6482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체리베이스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(100ml)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콜라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체리콜라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레몬퓨레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1.5P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사이다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레몬 슬라이스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레몬 에이드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레몬퓨레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1.5P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블루큐라소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사이다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레몬 슬라이스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블루레몬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에이드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자몽퓨레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사이다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슬라이스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자몽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에이드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청포도퓨레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라임 시럽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사이다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255313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청포도 에이드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메게에이드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레몬슬라이스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자몽슬라이스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(4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등분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라임슬라이스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빻아줌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사이다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(250ml)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메가 에이드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라임시럽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모히또시럽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4P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레몬슬라이스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애플민트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빻아줌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사이다 가득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(250ml) =&gt;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섞음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라임모히또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24</a:t>
            </a:r>
            <a:r>
              <a:rPr kumimoji="1" lang="ko-KR" altLang="en-US" sz="1600" dirty="0">
                <a:solidFill>
                  <a:schemeClr val="tx1"/>
                </a:solidFill>
              </a:rPr>
              <a:t>컵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부스트베이스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1.5P</a:t>
            </a:r>
            <a:r>
              <a:rPr kumimoji="1" lang="en-US" altLang="ko-KR" sz="1600" dirty="0">
                <a:solidFill>
                  <a:schemeClr val="tx1"/>
                </a:solidFill>
              </a:rPr>
              <a:t> + </a:t>
            </a:r>
            <a:r>
              <a:rPr kumimoji="1" lang="ko-KR" altLang="en-US" sz="1600" dirty="0">
                <a:solidFill>
                  <a:schemeClr val="tx1"/>
                </a:solidFill>
              </a:rPr>
              <a:t>레몬슬라이스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1</a:t>
            </a:r>
            <a:r>
              <a:rPr kumimoji="1" lang="ko-KR" altLang="en-US" sz="1600" b="1" dirty="0">
                <a:solidFill>
                  <a:srgbClr val="C00000"/>
                </a:solidFill>
              </a:rPr>
              <a:t>개</a:t>
            </a:r>
            <a:r>
              <a:rPr kumimoji="1" lang="en-US" altLang="ko-KR" sz="1600" dirty="0">
                <a:solidFill>
                  <a:schemeClr val="tx1"/>
                </a:solidFill>
              </a:rPr>
              <a:t> =&gt;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얼음가득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 err="1">
                <a:solidFill>
                  <a:srgbClr val="C00000"/>
                </a:solidFill>
              </a:rPr>
              <a:t>제로사이다</a:t>
            </a:r>
            <a:r>
              <a:rPr kumimoji="1" lang="ko-KR" altLang="en-US" sz="1600" dirty="0">
                <a:solidFill>
                  <a:schemeClr val="tx1"/>
                </a:solidFill>
              </a:rPr>
              <a:t> 가득</a:t>
            </a:r>
            <a:r>
              <a:rPr kumimoji="1" lang="en-US" altLang="ko-KR" sz="1600" dirty="0">
                <a:solidFill>
                  <a:schemeClr val="tx1"/>
                </a:solidFill>
              </a:rPr>
              <a:t>(250ml) =&gt; </a:t>
            </a:r>
            <a:r>
              <a:rPr kumimoji="1" lang="ko-KR" altLang="en-US" sz="1600" dirty="0">
                <a:solidFill>
                  <a:schemeClr val="tx1"/>
                </a:solidFill>
              </a:rPr>
              <a:t>레몬슬라이스가 보이게 섞음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AFCBD-AD71-C846-A506-8A3E1CCA1852}"/>
              </a:ext>
            </a:extLst>
          </p:cNvPr>
          <p:cNvSpPr txBox="1"/>
          <p:nvPr/>
        </p:nvSpPr>
        <p:spPr>
          <a:xfrm>
            <a:off x="4976892" y="1911709"/>
            <a:ext cx="2351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제로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부스트</a:t>
            </a:r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 에이드</a:t>
            </a:r>
            <a:endParaRPr kumimoji="1" lang="en-US" altLang="ko-K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392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요거트파우더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6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컵에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373871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플레인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요거트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스무디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요거트파우더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골드망고베이스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해동망고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컵에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337109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망고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요거트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스무디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요거트파우더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가당딸기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컵에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337109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딸기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요거트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스무디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요거트파우더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블루베리베이스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컵에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블르베리베이서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부선 돌려주기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410633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블루베리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요거트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스무디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골드망고베이스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3.5P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해동망고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컵에 얼음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가득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+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골드망고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스무디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코코넛베이스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코코넛칩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컵에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식힌샷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컵바닥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코코넛칩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endParaRPr kumimoji="1"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337109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코코넛 커피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스무디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쿠키분태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컵에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쿠키분태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컵바닥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휘핑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30g +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오레오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2ea +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쿠키분태</a:t>
              </a:r>
              <a:endParaRPr kumimoji="1" lang="ko-KR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쿠키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 err="1">
                <a:solidFill>
                  <a:schemeClr val="tx1"/>
                </a:solidFill>
              </a:rPr>
              <a:t>블렌더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+</a:t>
            </a:r>
            <a:r>
              <a:rPr kumimoji="1" lang="ko-KR" altLang="en-US" sz="1600" dirty="0">
                <a:solidFill>
                  <a:schemeClr val="tx1"/>
                </a:solidFill>
              </a:rPr>
              <a:t> 정수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150ml</a:t>
            </a:r>
            <a:r>
              <a:rPr kumimoji="1" lang="en-US" altLang="ko-KR" sz="1600" dirty="0">
                <a:solidFill>
                  <a:schemeClr val="tx1"/>
                </a:solidFill>
              </a:rPr>
              <a:t> +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귤베이스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5</a:t>
            </a:r>
            <a:r>
              <a:rPr kumimoji="1" lang="ko-KR" altLang="en-US" sz="1600" b="1" dirty="0" err="1">
                <a:solidFill>
                  <a:srgbClr val="C00000"/>
                </a:solidFill>
              </a:rPr>
              <a:t>래들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+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슈가시럽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1P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+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20</a:t>
            </a:r>
            <a:r>
              <a:rPr kumimoji="1" lang="ko-KR" altLang="en-US" sz="1600" dirty="0">
                <a:solidFill>
                  <a:schemeClr val="tx1"/>
                </a:solidFill>
              </a:rPr>
              <a:t>컵에 얼음 가득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믹싱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3</a:t>
            </a:r>
            <a:r>
              <a:rPr kumimoji="1" lang="ko-KR" altLang="en-US" sz="1600" dirty="0">
                <a:solidFill>
                  <a:schemeClr val="tx1"/>
                </a:solidFill>
              </a:rPr>
              <a:t>번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감귤워터젤리 </a:t>
            </a:r>
            <a:r>
              <a:rPr kumimoji="1" lang="ko-KR" altLang="en-US" sz="1600" b="1" dirty="0" err="1">
                <a:solidFill>
                  <a:srgbClr val="C00000"/>
                </a:solidFill>
              </a:rPr>
              <a:t>컵밑선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컵에 담기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애플민트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AFCBD-AD71-C846-A506-8A3E1CCA1852}"/>
              </a:ext>
            </a:extLst>
          </p:cNvPr>
          <p:cNvSpPr txBox="1"/>
          <p:nvPr/>
        </p:nvSpPr>
        <p:spPr>
          <a:xfrm>
            <a:off x="4976892" y="1911709"/>
            <a:ext cx="2409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귤 톡톡 젤리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스무디</a:t>
            </a:r>
            <a:endParaRPr kumimoji="1" lang="en-US" altLang="ko-K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41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초코베이스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초콜릿칩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컵에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휘핑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30g +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초코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,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카라멜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드리즐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+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딸기분태</a:t>
              </a:r>
              <a:endParaRPr kumimoji="1" lang="ko-KR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300347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리얼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초코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125ml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녹차베이스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125ml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휘핑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30g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녹차파우더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녹차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식힌 샷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50ml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얼음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휘핑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30g +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식힌샷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+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카라멜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드리즐</a:t>
              </a:r>
              <a:endParaRPr kumimoji="1"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커피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민트베이스파우더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5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민트시럽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초콜릿칩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얼음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휘핑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30g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딸기분태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민트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100ml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얼음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후 딸기 소스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2P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컵바닥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쿠키분태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휘핑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30g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쿠키분태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300347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딸기 쿠키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그린키위베이스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3P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가당딸기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커팅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463939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그린 키위 콕콕 딸기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스무디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죠리퐁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dirty="0">
                  <a:solidFill>
                    <a:srgbClr val="C00000"/>
                  </a:solidFill>
                </a:rPr>
                <a:t>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2P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죠리퐁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밑선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담고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음료 위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죠리퐁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가득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플레인퐁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크러쉬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 err="1">
                <a:solidFill>
                  <a:schemeClr val="tx1"/>
                </a:solidFill>
              </a:rPr>
              <a:t>블랜더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+</a:t>
            </a:r>
            <a:r>
              <a:rPr kumimoji="1" lang="ko-KR" altLang="en-US" sz="1400" dirty="0">
                <a:solidFill>
                  <a:schemeClr val="tx1"/>
                </a:solidFill>
              </a:rPr>
              <a:t> 우유 </a:t>
            </a:r>
            <a:r>
              <a:rPr kumimoji="1" lang="en-US" altLang="ko-KR" sz="1400" b="1" dirty="0">
                <a:solidFill>
                  <a:srgbClr val="C00000"/>
                </a:solidFill>
              </a:rPr>
              <a:t>150ml</a:t>
            </a:r>
            <a:r>
              <a:rPr kumimoji="1" lang="en-US" altLang="ko-KR" sz="1400" dirty="0">
                <a:solidFill>
                  <a:schemeClr val="tx1"/>
                </a:solidFill>
              </a:rPr>
              <a:t> +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요거트파우더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b="1" dirty="0">
                <a:solidFill>
                  <a:srgbClr val="C00000"/>
                </a:solidFill>
              </a:rPr>
              <a:t>3</a:t>
            </a:r>
            <a:r>
              <a:rPr kumimoji="1" lang="ko-KR" altLang="en-US" sz="1400" b="1" dirty="0" err="1">
                <a:solidFill>
                  <a:srgbClr val="C00000"/>
                </a:solidFill>
              </a:rPr>
              <a:t>래들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+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슈가시럽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1P +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애플머스켓</a:t>
            </a:r>
            <a:r>
              <a:rPr kumimoji="1" lang="ko-KR" altLang="en-US" sz="1400" dirty="0">
                <a:solidFill>
                  <a:schemeClr val="tx1"/>
                </a:solidFill>
              </a:rPr>
              <a:t> 베이스 </a:t>
            </a:r>
            <a:r>
              <a:rPr kumimoji="1" lang="en-US" altLang="ko-KR" sz="1400" b="1" dirty="0">
                <a:solidFill>
                  <a:srgbClr val="C00000"/>
                </a:solidFill>
              </a:rPr>
              <a:t>3</a:t>
            </a:r>
            <a:r>
              <a:rPr kumimoji="1" lang="ko-KR" altLang="en-US" sz="1400" b="1" dirty="0" err="1">
                <a:solidFill>
                  <a:srgbClr val="C00000"/>
                </a:solidFill>
              </a:rPr>
              <a:t>래들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+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20</a:t>
            </a:r>
            <a:r>
              <a:rPr kumimoji="1" lang="ko-KR" altLang="en-US" sz="1400" dirty="0">
                <a:solidFill>
                  <a:schemeClr val="tx1"/>
                </a:solidFill>
              </a:rPr>
              <a:t>컵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얼음가득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=&gt;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믹싱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3</a:t>
            </a:r>
            <a:r>
              <a:rPr kumimoji="1" lang="ko-KR" altLang="en-US" sz="1400" dirty="0">
                <a:solidFill>
                  <a:schemeClr val="tx1"/>
                </a:solidFill>
              </a:rPr>
              <a:t>번 </a:t>
            </a:r>
            <a:r>
              <a:rPr kumimoji="1" lang="en-US" altLang="ko-KR" sz="1400" dirty="0">
                <a:solidFill>
                  <a:schemeClr val="tx1"/>
                </a:solidFill>
              </a:rPr>
              <a:t>=&gt;</a:t>
            </a:r>
            <a:r>
              <a:rPr kumimoji="1" lang="ko-KR" altLang="en-US" sz="1400" dirty="0">
                <a:solidFill>
                  <a:schemeClr val="tx1"/>
                </a:solidFill>
              </a:rPr>
              <a:t> 컵에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애플머스켓</a:t>
            </a:r>
            <a:r>
              <a:rPr kumimoji="1" lang="ko-KR" altLang="en-US" sz="1400" dirty="0">
                <a:solidFill>
                  <a:schemeClr val="tx1"/>
                </a:solidFill>
              </a:rPr>
              <a:t> 베이스 </a:t>
            </a:r>
            <a:r>
              <a:rPr kumimoji="1" lang="en-US" altLang="ko-KR" sz="1400" dirty="0">
                <a:solidFill>
                  <a:schemeClr val="tx1"/>
                </a:solidFill>
              </a:rPr>
              <a:t>1</a:t>
            </a:r>
            <a:r>
              <a:rPr kumimoji="1" lang="ko-KR" altLang="en-US" sz="1400" b="1" dirty="0" err="1">
                <a:solidFill>
                  <a:srgbClr val="C00000"/>
                </a:solidFill>
              </a:rPr>
              <a:t>래들</a:t>
            </a:r>
            <a:r>
              <a:rPr kumimoji="1" lang="ko-KR" altLang="en-US" sz="1400" b="1" dirty="0">
                <a:solidFill>
                  <a:srgbClr val="C00000"/>
                </a:solidFill>
              </a:rPr>
              <a:t> </a:t>
            </a:r>
            <a:r>
              <a:rPr kumimoji="1" lang="en-US" altLang="ko-KR" sz="1400" b="1" dirty="0">
                <a:solidFill>
                  <a:srgbClr val="C00000"/>
                </a:solidFill>
              </a:rPr>
              <a:t>8</a:t>
            </a:r>
            <a:r>
              <a:rPr kumimoji="1" lang="ko-KR" altLang="en-US" sz="1400" b="1" dirty="0">
                <a:solidFill>
                  <a:srgbClr val="C00000"/>
                </a:solidFill>
              </a:rPr>
              <a:t>부선 이하로 돌려주기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=&gt;</a:t>
            </a:r>
            <a:r>
              <a:rPr kumimoji="1" lang="ko-KR" altLang="en-US" sz="1400" dirty="0">
                <a:solidFill>
                  <a:schemeClr val="tx1"/>
                </a:solidFill>
              </a:rPr>
              <a:t> 컵에 담기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6AFCBD-AD71-C846-A506-8A3E1CCA1852}"/>
              </a:ext>
            </a:extLst>
          </p:cNvPr>
          <p:cNvSpPr txBox="1"/>
          <p:nvPr/>
        </p:nvSpPr>
        <p:spPr>
          <a:xfrm>
            <a:off x="4976892" y="1911709"/>
            <a:ext cx="3179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애플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머스켓</a:t>
            </a:r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요거트</a:t>
            </a:r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스무디</a:t>
            </a:r>
            <a:endParaRPr kumimoji="1" lang="en-US" altLang="ko-K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038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죠리퐁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2P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바나나파우더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죠리퐁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밑선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담고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음료 위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죠리퐁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가득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바나나퐁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크러쉬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죠리퐁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딸기소스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1P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죠리퐁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밑선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담고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음료 위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죠리퐁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가득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55313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딸기퐁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크러쉬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쿠키베이스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150ml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죠리퐁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초코파우더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담고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음료 위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허니퐁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가득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337109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초코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허니퐁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크러쉬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68112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피스타쵸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파우더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5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얼음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컵선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번 후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믹스씨리얼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그래놀라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넣고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컵면에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초코소스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지그재그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컵에 담기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믹스씨리얼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그래놀라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endParaRPr kumimoji="1" lang="ko-KR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410633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크런치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피스타쵸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프라페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밀크쉐이크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파우더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밀크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쉐이크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729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골드키위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팩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8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263584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골드 키위 주스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피치푸룬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팩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8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337109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블루베리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플럼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주스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딸기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팩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8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181789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딸기 주스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68112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</a:t>
              </a:r>
              <a:r>
                <a:rPr kumimoji="1" lang="en-US" altLang="ko-KR" sz="1600" b="1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딸기바나나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팩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8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300347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딸기 바나나 주스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블랜더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MGC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망고구아바당근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팩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8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부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4572758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M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망고 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G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구아바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C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캐럿 주스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766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CCC9C1-495F-624A-9B2C-073A2F7F3377}"/>
              </a:ext>
            </a:extLst>
          </p:cNvPr>
          <p:cNvGrpSpPr/>
          <p:nvPr/>
        </p:nvGrpSpPr>
        <p:grpSpPr>
          <a:xfrm>
            <a:off x="213916" y="360685"/>
            <a:ext cx="4739084" cy="1460964"/>
            <a:chOff x="153307" y="143692"/>
            <a:chExt cx="6792686" cy="151529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1CF49D0-20EA-C640-ADBF-8DB7B53C8A9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얼그레이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티백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(475ml)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184AD-CEA5-B741-B73A-00BE2592A525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얼그레이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60AD07-DE05-4940-8279-2A7B26116E97}"/>
              </a:ext>
            </a:extLst>
          </p:cNvPr>
          <p:cNvGrpSpPr/>
          <p:nvPr/>
        </p:nvGrpSpPr>
        <p:grpSpPr>
          <a:xfrm>
            <a:off x="213916" y="1930610"/>
            <a:ext cx="4739084" cy="1460964"/>
            <a:chOff x="153307" y="143692"/>
            <a:chExt cx="6792686" cy="1515291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0833985-B272-DB42-A282-6F2504C2AFA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녹차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티백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(475ml)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43B6CA-1784-824C-A4EE-B066655149FA}"/>
                </a:ext>
              </a:extLst>
            </p:cNvPr>
            <p:cNvSpPr txBox="1"/>
            <p:nvPr/>
          </p:nvSpPr>
          <p:spPr>
            <a:xfrm>
              <a:off x="153307" y="143692"/>
              <a:ext cx="99993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녹차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28598DB-E488-4B47-83D4-A4BEFF848FC6}"/>
              </a:ext>
            </a:extLst>
          </p:cNvPr>
          <p:cNvGrpSpPr/>
          <p:nvPr/>
        </p:nvGrpSpPr>
        <p:grpSpPr>
          <a:xfrm>
            <a:off x="213916" y="3500535"/>
            <a:ext cx="4739084" cy="1460964"/>
            <a:chOff x="153307" y="143692"/>
            <a:chExt cx="6792686" cy="1515291"/>
          </a:xfrm>
        </p:grpSpPr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A889B274-3BF4-BA4A-AA04-96579CA0B6F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캐모마일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티백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(475ml)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3889DE-1565-C241-A457-3B7646701E92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캐모마일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74AF948-46A0-D345-B8EA-C7161A3281CB}"/>
              </a:ext>
            </a:extLst>
          </p:cNvPr>
          <p:cNvGrpSpPr/>
          <p:nvPr/>
        </p:nvGrpSpPr>
        <p:grpSpPr>
          <a:xfrm>
            <a:off x="213916" y="5070460"/>
            <a:ext cx="4739084" cy="1460964"/>
            <a:chOff x="153307" y="143692"/>
            <a:chExt cx="6792686" cy="1515291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10431EC8-795C-1243-8D20-4CE21CBFCBC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페퍼민트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티백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(475ml)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2A6447-5971-6443-B52B-26CF2EC19AA7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페퍼민트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413BB96-FF0D-3345-A0CA-4CEDF57B3A9F}"/>
              </a:ext>
            </a:extLst>
          </p:cNvPr>
          <p:cNvGrpSpPr/>
          <p:nvPr/>
        </p:nvGrpSpPr>
        <p:grpSpPr>
          <a:xfrm>
            <a:off x="4987297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B3E1F2A3-9EEB-0B44-B2FB-B1E651BF7BE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유자청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5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(375ml)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737BE6-5C68-4941-9C45-8B2828EFC412}"/>
                </a:ext>
              </a:extLst>
            </p:cNvPr>
            <p:cNvSpPr txBox="1"/>
            <p:nvPr/>
          </p:nvSpPr>
          <p:spPr>
            <a:xfrm>
              <a:off x="153307" y="143692"/>
              <a:ext cx="136755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유자차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CE2214C-E718-004D-B249-17ADAB216560}"/>
              </a:ext>
            </a:extLst>
          </p:cNvPr>
          <p:cNvGrpSpPr/>
          <p:nvPr/>
        </p:nvGrpSpPr>
        <p:grpSpPr>
          <a:xfrm>
            <a:off x="4987297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29C4506-AB54-BE4B-938D-709B269F7D8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레몬청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5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(375ml)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레몬 슬라이스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963DCF-E2B2-E842-B145-FF4D1EA73BED}"/>
                </a:ext>
              </a:extLst>
            </p:cNvPr>
            <p:cNvSpPr txBox="1"/>
            <p:nvPr/>
          </p:nvSpPr>
          <p:spPr>
            <a:xfrm>
              <a:off x="153307" y="143692"/>
              <a:ext cx="136755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레몬차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F67B852-64D5-184E-802F-2FE88989576A}"/>
              </a:ext>
            </a:extLst>
          </p:cNvPr>
          <p:cNvGrpSpPr/>
          <p:nvPr/>
        </p:nvGrpSpPr>
        <p:grpSpPr>
          <a:xfrm>
            <a:off x="4987297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6CB24886-4643-314F-917B-E839B476742C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2P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온수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9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(375ml)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자몽슬라이스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등분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1AE83D-463A-5141-85DB-5F08A5427F69}"/>
                </a:ext>
              </a:extLst>
            </p:cNvPr>
            <p:cNvSpPr txBox="1"/>
            <p:nvPr/>
          </p:nvSpPr>
          <p:spPr>
            <a:xfrm>
              <a:off x="153307" y="143692"/>
              <a:ext cx="136755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자몽차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3F25361-F0B2-8B4E-963A-41F17EEB1CE4}"/>
              </a:ext>
            </a:extLst>
          </p:cNvPr>
          <p:cNvGrpSpPr/>
          <p:nvPr/>
        </p:nvGrpSpPr>
        <p:grpSpPr>
          <a:xfrm>
            <a:off x="4987297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0EFD86EB-BC89-0E46-B8BE-CC56489E705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리치베이스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(400ml)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로즈마리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5E847E-A5C9-224F-878D-811FB3AD0796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상큼리치티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2430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CCC9C1-495F-624A-9B2C-073A2F7F3377}"/>
              </a:ext>
            </a:extLst>
          </p:cNvPr>
          <p:cNvGrpSpPr/>
          <p:nvPr/>
        </p:nvGrpSpPr>
        <p:grpSpPr>
          <a:xfrm>
            <a:off x="213916" y="360685"/>
            <a:ext cx="4739084" cy="1460964"/>
            <a:chOff x="153307" y="143692"/>
            <a:chExt cx="6792686" cy="151529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1CF49D0-20EA-C640-ADBF-8DB7B53C8A9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유자청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(350ml)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애플티백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투입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184AD-CEA5-B741-B73A-00BE2592A525}"/>
                </a:ext>
              </a:extLst>
            </p:cNvPr>
            <p:cNvSpPr txBox="1"/>
            <p:nvPr/>
          </p:nvSpPr>
          <p:spPr>
            <a:xfrm>
              <a:off x="153307" y="143692"/>
              <a:ext cx="300347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허니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자몽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블랙티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60AD07-DE05-4940-8279-2A7B26116E97}"/>
              </a:ext>
            </a:extLst>
          </p:cNvPr>
          <p:cNvGrpSpPr/>
          <p:nvPr/>
        </p:nvGrpSpPr>
        <p:grpSpPr>
          <a:xfrm>
            <a:off x="213916" y="1930610"/>
            <a:ext cx="4739084" cy="1460964"/>
            <a:chOff x="153307" y="143692"/>
            <a:chExt cx="6792686" cy="1515291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0833985-B272-DB42-A282-6F2504C2AFA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유자청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(350ml)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애플티백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개 투입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43B6CA-1784-824C-A4EE-B066655149FA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사과 유자차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28598DB-E488-4B47-83D4-A4BEFF848FC6}"/>
              </a:ext>
            </a:extLst>
          </p:cNvPr>
          <p:cNvGrpSpPr/>
          <p:nvPr/>
        </p:nvGrpSpPr>
        <p:grpSpPr>
          <a:xfrm>
            <a:off x="213916" y="3500535"/>
            <a:ext cx="4739084" cy="1460964"/>
            <a:chOff x="153307" y="143692"/>
            <a:chExt cx="6792686" cy="1515291"/>
          </a:xfrm>
        </p:grpSpPr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A889B274-3BF4-BA4A-AA04-96579CA0B6F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유자청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생강베이스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8P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(350ml)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레몬슬라이스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3889DE-1565-C241-A457-3B7646701E92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유자 생강차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74AF948-46A0-D345-B8EA-C7161A3281CB}"/>
              </a:ext>
            </a:extLst>
          </p:cNvPr>
          <p:cNvGrpSpPr/>
          <p:nvPr/>
        </p:nvGrpSpPr>
        <p:grpSpPr>
          <a:xfrm>
            <a:off x="213916" y="5070460"/>
            <a:ext cx="4739084" cy="1460964"/>
            <a:chOff x="153307" y="143692"/>
            <a:chExt cx="6792686" cy="1515291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10431EC8-795C-1243-8D20-4CE21CBFCBC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2A6447-5971-6443-B52B-26CF2EC19AA7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413BB96-FF0D-3345-A0CA-4CEDF57B3A9F}"/>
              </a:ext>
            </a:extLst>
          </p:cNvPr>
          <p:cNvGrpSpPr/>
          <p:nvPr/>
        </p:nvGrpSpPr>
        <p:grpSpPr>
          <a:xfrm>
            <a:off x="4987297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B3E1F2A3-9EEB-0B44-B2FB-B1E651BF7BE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737BE6-5C68-4941-9C45-8B2828EFC412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CE2214C-E718-004D-B249-17ADAB216560}"/>
              </a:ext>
            </a:extLst>
          </p:cNvPr>
          <p:cNvGrpSpPr/>
          <p:nvPr/>
        </p:nvGrpSpPr>
        <p:grpSpPr>
          <a:xfrm>
            <a:off x="4987297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29C4506-AB54-BE4B-938D-709B269F7D8E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963DCF-E2B2-E842-B145-FF4D1EA73BED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F67B852-64D5-184E-802F-2FE88989576A}"/>
              </a:ext>
            </a:extLst>
          </p:cNvPr>
          <p:cNvGrpSpPr/>
          <p:nvPr/>
        </p:nvGrpSpPr>
        <p:grpSpPr>
          <a:xfrm>
            <a:off x="4987297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6CB24886-4643-314F-917B-E839B476742C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1AE83D-463A-5141-85DB-5F08A5427F69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3F25361-F0B2-8B4E-963A-41F17EEB1CE4}"/>
              </a:ext>
            </a:extLst>
          </p:cNvPr>
          <p:cNvGrpSpPr/>
          <p:nvPr/>
        </p:nvGrpSpPr>
        <p:grpSpPr>
          <a:xfrm>
            <a:off x="4987297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0EFD86EB-BC89-0E46-B8BE-CC56489E705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5E847E-A5C9-224F-878D-811FB3AD0796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0936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얼그레이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분 우리기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반컵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재료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얼그레이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녹차티백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분 우리기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반컵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재료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99993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녹차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캐모마일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분 우리기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반컵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재료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캐모마일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페퍼민트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분 우리기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반컵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재료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173517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페퍼민트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유자청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6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래들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온수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50ml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136755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유자차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자몽청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슈가시럽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온수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섞기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자몽슬라이스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136755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자몽차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리치 베이스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(275ml) 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로즈마리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(1/2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컷팅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후 사용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, 5cm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이하 커팅 안됨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)</a:t>
              </a:r>
              <a:endParaRPr kumimoji="1"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10279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상큼리치티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24</a:t>
            </a:r>
            <a:r>
              <a:rPr kumimoji="1" lang="ko-KR" altLang="en-US" sz="1600" dirty="0">
                <a:solidFill>
                  <a:schemeClr val="tx1"/>
                </a:solidFill>
              </a:rPr>
              <a:t>컵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레몬청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6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래들</a:t>
            </a:r>
            <a:r>
              <a:rPr kumimoji="1" lang="en-US" altLang="ko-KR" sz="1600" dirty="0">
                <a:solidFill>
                  <a:schemeClr val="tx1"/>
                </a:solidFill>
              </a:rPr>
              <a:t> + </a:t>
            </a:r>
            <a:r>
              <a:rPr kumimoji="1" lang="ko-KR" altLang="en-US" sz="1600" dirty="0">
                <a:solidFill>
                  <a:schemeClr val="tx1"/>
                </a:solidFill>
              </a:rPr>
              <a:t>온수 </a:t>
            </a:r>
            <a:r>
              <a:rPr kumimoji="1" lang="en-US" altLang="ko-KR" sz="1600" dirty="0">
                <a:solidFill>
                  <a:schemeClr val="tx1"/>
                </a:solidFill>
              </a:rPr>
              <a:t>50ml =&gt; </a:t>
            </a:r>
            <a:r>
              <a:rPr kumimoji="1" lang="ko-KR" altLang="en-US" sz="1600" dirty="0">
                <a:solidFill>
                  <a:schemeClr val="tx1"/>
                </a:solidFill>
              </a:rPr>
              <a:t>섞음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얼음가득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정수 가득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섞기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레몬슬라이스 </a:t>
            </a:r>
            <a:r>
              <a:rPr kumimoji="1" lang="en-US" altLang="ko-KR" sz="1600" dirty="0">
                <a:solidFill>
                  <a:schemeClr val="tx1"/>
                </a:solidFill>
              </a:rPr>
              <a:t>1</a:t>
            </a:r>
            <a:r>
              <a:rPr kumimoji="1" lang="ko-KR" altLang="en-US" sz="1600" dirty="0">
                <a:solidFill>
                  <a:schemeClr val="tx1"/>
                </a:solidFill>
              </a:rPr>
              <a:t>개 </a:t>
            </a:r>
            <a:r>
              <a:rPr kumimoji="1" lang="en-US" altLang="ko-KR" sz="1600" dirty="0">
                <a:solidFill>
                  <a:schemeClr val="tx1"/>
                </a:solidFill>
              </a:rPr>
              <a:t>+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애플민트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30495-5FB2-0B4F-9CC5-D0E813C19641}"/>
              </a:ext>
            </a:extLst>
          </p:cNvPr>
          <p:cNvSpPr txBox="1"/>
          <p:nvPr/>
        </p:nvSpPr>
        <p:spPr>
          <a:xfrm>
            <a:off x="4976892" y="191170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레몬차</a:t>
            </a:r>
            <a:endParaRPr kumimoji="1" lang="en-US" altLang="ko-K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559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75ml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얼그레이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티백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분 우리기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자몽청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3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꿀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계량컵의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액상만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티백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자몽슬라이스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1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개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283804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허니자몽블랙티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75ml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애플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티백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분 우리기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유자청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계량컵의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액상만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티백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185512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사과 유자차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온수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125ml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애플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티백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분 우리기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32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유자청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6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계량컵의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액상만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정수 가득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계량컵에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티백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개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3371093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왕메가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사과 유자차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아이스티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베이스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I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(125ml)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(175ml)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복숭아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아이스티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b="1" dirty="0">
                  <a:solidFill>
                    <a:srgbClr val="C00000"/>
                  </a:solidFill>
                </a:rPr>
                <a:t>32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아이스티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베이스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I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(245ml) =&gt;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얼음가득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정수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(275ml)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애플민트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29207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왕메가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아이스티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자스민망고베이스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2.5P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(60g) +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자스민티베이스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C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망고폼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자스민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1ea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4106337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망고폼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자스민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티플레저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 dirty="0">
                  <a:solidFill>
                    <a:srgbClr val="C00000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얼음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ko-KR" altLang="en-US" sz="1400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매직워터베이스</a:t>
              </a:r>
              <a:r>
                <a:rPr kumimoji="1" lang="ko-KR" altLang="en-US" sz="1400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A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선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(130g) =&gt;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딸기폼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컵선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(80g)</a:t>
              </a:r>
              <a:endParaRPr kumimoji="1"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3821429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딸기폼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말캉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젤리 워터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24</a:t>
            </a:r>
            <a:r>
              <a:rPr kumimoji="1" lang="ko-KR" altLang="en-US" sz="1600" dirty="0">
                <a:solidFill>
                  <a:schemeClr val="tx1"/>
                </a:solidFill>
              </a:rPr>
              <a:t>컵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제로복숭아아이스티 베이스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5P</a:t>
            </a:r>
            <a:r>
              <a:rPr kumimoji="1" lang="en-US" altLang="ko-KR" sz="1600" dirty="0">
                <a:solidFill>
                  <a:schemeClr val="tx1"/>
                </a:solidFill>
              </a:rPr>
              <a:t> 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얼음 가득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정수 가득</a:t>
            </a:r>
            <a:r>
              <a:rPr kumimoji="1" lang="en-US" altLang="ko-KR" sz="1600" dirty="0">
                <a:solidFill>
                  <a:schemeClr val="tx1"/>
                </a:solidFill>
              </a:rPr>
              <a:t>(275ml) 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섞음 </a:t>
            </a:r>
            <a:r>
              <a:rPr kumimoji="1" lang="en-US" altLang="ko-KR" sz="1600" dirty="0">
                <a:solidFill>
                  <a:schemeClr val="tx1"/>
                </a:solidFill>
              </a:rPr>
              <a:t>=&gt;</a:t>
            </a:r>
            <a:r>
              <a:rPr kumimoji="1" lang="ko-KR" altLang="en-US" sz="1600" dirty="0">
                <a:solidFill>
                  <a:schemeClr val="tx1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1"/>
                </a:solidFill>
              </a:rPr>
              <a:t>애플민트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F30495-5FB2-0B4F-9CC5-D0E813C19641}"/>
              </a:ext>
            </a:extLst>
          </p:cNvPr>
          <p:cNvSpPr txBox="1"/>
          <p:nvPr/>
        </p:nvSpPr>
        <p:spPr>
          <a:xfrm>
            <a:off x="4976892" y="1911709"/>
            <a:ext cx="2608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accent1">
                    <a:lumMod val="75000"/>
                  </a:schemeClr>
                </a:solidFill>
              </a:rPr>
              <a:t>제로 복숭아 </a:t>
            </a:r>
            <a:r>
              <a:rPr kumimoji="1" lang="ko-KR" altLang="en-US" sz="2000" b="1" dirty="0" err="1">
                <a:solidFill>
                  <a:schemeClr val="accent1">
                    <a:lumMod val="75000"/>
                  </a:schemeClr>
                </a:solidFill>
              </a:rPr>
              <a:t>아이스티</a:t>
            </a:r>
            <a:endParaRPr kumimoji="1" lang="en-US" altLang="ko-KR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485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6F853202-CCA1-B04E-94C4-8D617974B6A8}"/>
              </a:ext>
            </a:extLst>
          </p:cNvPr>
          <p:cNvGrpSpPr/>
          <p:nvPr/>
        </p:nvGrpSpPr>
        <p:grpSpPr>
          <a:xfrm>
            <a:off x="210288" y="360685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EB30FFB9-DCCC-7547-90BF-CC12262406D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저당꿀배베이스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(100g)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야쿠르트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XO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병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 err="1">
                  <a:solidFill>
                    <a:srgbClr val="C00000"/>
                  </a:solidFill>
                </a:rPr>
                <a:t>hy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스트로우픽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제공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재료 소진 시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미제공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)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EF2930-6332-8B4D-9BE3-3105AD9AD911}"/>
                </a:ext>
              </a:extLst>
            </p:cNvPr>
            <p:cNvSpPr txBox="1"/>
            <p:nvPr/>
          </p:nvSpPr>
          <p:spPr>
            <a:xfrm>
              <a:off x="153307" y="143692"/>
              <a:ext cx="389155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저당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꿀배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XO 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야쿠르트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189979A-1C0D-614C-B9EC-8EF82C093919}"/>
              </a:ext>
            </a:extLst>
          </p:cNvPr>
          <p:cNvGrpSpPr/>
          <p:nvPr/>
        </p:nvGrpSpPr>
        <p:grpSpPr>
          <a:xfrm>
            <a:off x="210288" y="1930610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8904FF5B-E164-4D4D-AFC7-75CC8E15883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D6FC8C-455E-5A4E-BAB8-0CBA36951E57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42D4A5F-A962-6042-91FD-ACFFF054E4B8}"/>
              </a:ext>
            </a:extLst>
          </p:cNvPr>
          <p:cNvGrpSpPr/>
          <p:nvPr/>
        </p:nvGrpSpPr>
        <p:grpSpPr>
          <a:xfrm>
            <a:off x="210288" y="3500535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5A38D590-D560-3B45-9C53-C47F8ADD1C46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0B9145-64CB-724B-91D5-B1DA387024D9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4D274C2-0A73-7B46-A037-580A9D3D5748}"/>
              </a:ext>
            </a:extLst>
          </p:cNvPr>
          <p:cNvGrpSpPr/>
          <p:nvPr/>
        </p:nvGrpSpPr>
        <p:grpSpPr>
          <a:xfrm>
            <a:off x="210288" y="5070460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407C2AC-77AF-AC44-AA0D-B0E0553B10C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07A288-8AA0-064A-AC25-13FE64B1F260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AB5EA8A-8709-5B4D-A3F2-9EBD9E657800}"/>
              </a:ext>
            </a:extLst>
          </p:cNvPr>
          <p:cNvGrpSpPr/>
          <p:nvPr/>
        </p:nvGrpSpPr>
        <p:grpSpPr>
          <a:xfrm>
            <a:off x="4976893" y="358337"/>
            <a:ext cx="4739084" cy="1460964"/>
            <a:chOff x="153307" y="143692"/>
            <a:chExt cx="6792686" cy="1515291"/>
          </a:xfrm>
        </p:grpSpPr>
        <p:sp>
          <p:nvSpPr>
            <p:cNvPr id="42" name="모서리가 둥근 직사각형 41">
              <a:extLst>
                <a:ext uri="{FF2B5EF4-FFF2-40B4-BE49-F238E27FC236}">
                  <a16:creationId xmlns:a16="http://schemas.microsoft.com/office/drawing/2014/main" id="{618830A6-AAD1-304A-91BF-ACB37F200524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975D97E-B3B0-444A-8057-5C03275C15BA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C262352-99E7-3842-BB02-EC3CCC10C2CE}"/>
              </a:ext>
            </a:extLst>
          </p:cNvPr>
          <p:cNvGrpSpPr/>
          <p:nvPr/>
        </p:nvGrpSpPr>
        <p:grpSpPr>
          <a:xfrm>
            <a:off x="4976893" y="3498187"/>
            <a:ext cx="4739084" cy="1460964"/>
            <a:chOff x="153307" y="143692"/>
            <a:chExt cx="6792686" cy="1515291"/>
          </a:xfrm>
        </p:grpSpPr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01A31A94-94B4-A142-A449-030AE3F2EFD3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755DC19-405D-6F43-AE86-04AC3594364C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FB0D80F-15A9-B94F-9561-B768416E0BA0}"/>
              </a:ext>
            </a:extLst>
          </p:cNvPr>
          <p:cNvGrpSpPr/>
          <p:nvPr/>
        </p:nvGrpSpPr>
        <p:grpSpPr>
          <a:xfrm>
            <a:off x="4976893" y="5068112"/>
            <a:ext cx="4739084" cy="1460964"/>
            <a:chOff x="153307" y="143692"/>
            <a:chExt cx="6792686" cy="1515291"/>
          </a:xfrm>
        </p:grpSpPr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40BDA42B-9D83-4F4F-A03E-4B23B47E6929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2E2027-AFB9-6549-B896-B81BF77EC9B7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2FC34E9-6828-DE44-A955-DF62E35709BA}"/>
              </a:ext>
            </a:extLst>
          </p:cNvPr>
          <p:cNvSpPr/>
          <p:nvPr/>
        </p:nvSpPr>
        <p:spPr>
          <a:xfrm>
            <a:off x="4983167" y="1911709"/>
            <a:ext cx="4739084" cy="146096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231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CCC9C1-495F-624A-9B2C-073A2F7F3377}"/>
              </a:ext>
            </a:extLst>
          </p:cNvPr>
          <p:cNvGrpSpPr/>
          <p:nvPr/>
        </p:nvGrpSpPr>
        <p:grpSpPr>
          <a:xfrm>
            <a:off x="213916" y="360685"/>
            <a:ext cx="4739084" cy="1460964"/>
            <a:chOff x="153307" y="143692"/>
            <a:chExt cx="6792686" cy="1515291"/>
          </a:xfrm>
        </p:grpSpPr>
        <p:sp>
          <p:nvSpPr>
            <p:cNvPr id="4" name="모서리가 둥근 직사각형 3">
              <a:extLst>
                <a:ext uri="{FF2B5EF4-FFF2-40B4-BE49-F238E27FC236}">
                  <a16:creationId xmlns:a16="http://schemas.microsoft.com/office/drawing/2014/main" id="{71CF49D0-20EA-C640-ADBF-8DB7B53C8A95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녹차파우더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바닐라 시럽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1P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온수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스팀 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아몬드 밀크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 =&gt;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반 투입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나머지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거품 투입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녹차 파우더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F184AD-CEA5-B741-B73A-00BE2592A525}"/>
                </a:ext>
              </a:extLst>
            </p:cNvPr>
            <p:cNvSpPr txBox="1"/>
            <p:nvPr/>
          </p:nvSpPr>
          <p:spPr>
            <a:xfrm>
              <a:off x="153307" y="143692"/>
              <a:ext cx="290237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꿀팁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2">
                      <a:lumMod val="75000"/>
                    </a:schemeClr>
                  </a:solidFill>
                </a:rPr>
                <a:t>–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녹차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60AD07-DE05-4940-8279-2A7B26116E97}"/>
              </a:ext>
            </a:extLst>
          </p:cNvPr>
          <p:cNvGrpSpPr/>
          <p:nvPr/>
        </p:nvGrpSpPr>
        <p:grpSpPr>
          <a:xfrm>
            <a:off x="213916" y="1930610"/>
            <a:ext cx="4739084" cy="1460964"/>
            <a:chOff x="153307" y="143692"/>
            <a:chExt cx="6792686" cy="1515291"/>
          </a:xfrm>
        </p:grpSpPr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C0833985-B272-DB42-A282-6F2504C2AFA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곡물파우더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꿀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(26.5g) 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스팀 </a:t>
              </a:r>
              <a:r>
                <a:rPr kumimoji="1" lang="ko-KR" altLang="en-US" sz="1400" b="1" dirty="0" err="1">
                  <a:solidFill>
                    <a:srgbClr val="C00000"/>
                  </a:solidFill>
                </a:rPr>
                <a:t>오트밀크</a:t>
              </a:r>
              <a:r>
                <a:rPr kumimoji="1" lang="ko-KR" altLang="en-US" sz="14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400" b="1" dirty="0">
                  <a:solidFill>
                    <a:srgbClr val="C00000"/>
                  </a:solidFill>
                </a:rPr>
                <a:t>275ml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반 투입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섞음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나머지 </a:t>
              </a:r>
              <a:r>
                <a:rPr kumimoji="1" lang="ko-KR" altLang="en-US" sz="1400" dirty="0" err="1">
                  <a:solidFill>
                    <a:schemeClr val="tx1"/>
                  </a:solidFill>
                </a:rPr>
                <a:t>스팀우유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거품 투입 </a:t>
              </a:r>
              <a:r>
                <a:rPr kumimoji="1" lang="en-US" altLang="ko-KR" sz="14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400" dirty="0">
                  <a:solidFill>
                    <a:schemeClr val="tx1"/>
                  </a:solidFill>
                </a:rPr>
                <a:t> 아몬드 슬라이스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43B6CA-1784-824C-A4EE-B066655149FA}"/>
                </a:ext>
              </a:extLst>
            </p:cNvPr>
            <p:cNvSpPr txBox="1"/>
            <p:nvPr/>
          </p:nvSpPr>
          <p:spPr>
            <a:xfrm>
              <a:off x="153307" y="143692"/>
              <a:ext cx="290237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꿀팁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2">
                      <a:lumMod val="75000"/>
                    </a:schemeClr>
                  </a:solidFill>
                </a:rPr>
                <a:t>–</a:t>
              </a:r>
              <a:r>
                <a:rPr kumimoji="1" lang="ko-KR" altLang="en-US" sz="2000" b="1" dirty="0">
                  <a:solidFill>
                    <a:schemeClr val="accent2">
                      <a:lumMod val="75000"/>
                    </a:schemeClr>
                  </a:solidFill>
                </a:rPr>
                <a:t> 곡물 </a:t>
              </a:r>
              <a:r>
                <a:rPr kumimoji="1" lang="ko-KR" altLang="en-US" sz="2000" b="1" dirty="0" err="1">
                  <a:solidFill>
                    <a:schemeClr val="accent2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A10D482-6DCF-7347-B6FC-991894C0B4F2}"/>
              </a:ext>
            </a:extLst>
          </p:cNvPr>
          <p:cNvGrpSpPr/>
          <p:nvPr/>
        </p:nvGrpSpPr>
        <p:grpSpPr>
          <a:xfrm>
            <a:off x="5021445" y="360685"/>
            <a:ext cx="4739084" cy="1460964"/>
            <a:chOff x="153307" y="143692"/>
            <a:chExt cx="6792686" cy="1515291"/>
          </a:xfrm>
        </p:grpSpPr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01F2B1BF-D1B1-AA46-A6A5-F137198B4CFB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24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사이다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9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부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(275ml)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샷 투입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섞음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F9328A-8ADB-4542-A77E-1CEF9F08E6A3}"/>
                </a:ext>
              </a:extLst>
            </p:cNvPr>
            <p:cNvSpPr txBox="1"/>
            <p:nvPr/>
          </p:nvSpPr>
          <p:spPr>
            <a:xfrm>
              <a:off x="153307" y="143692"/>
              <a:ext cx="3116056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꿀팁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-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아메리카노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9E946A-A398-9E4B-A520-405A2B1C52DE}"/>
              </a:ext>
            </a:extLst>
          </p:cNvPr>
          <p:cNvGrpSpPr/>
          <p:nvPr/>
        </p:nvGrpSpPr>
        <p:grpSpPr>
          <a:xfrm>
            <a:off x="5021445" y="1930610"/>
            <a:ext cx="4739084" cy="1460964"/>
            <a:chOff x="153307" y="143692"/>
            <a:chExt cx="6792686" cy="1515291"/>
          </a:xfrm>
        </p:grpSpPr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4987028A-1165-0E4F-8482-5DF3DFDC082C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녹차베이스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컵밑선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(75ml)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바닐라 시럽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1P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아몬드 밀크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(225ml) =&gt;</a:t>
              </a:r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089664-8846-AD4D-B885-1F2532A5A1AC}"/>
                </a:ext>
              </a:extLst>
            </p:cNvPr>
            <p:cNvSpPr txBox="1"/>
            <p:nvPr/>
          </p:nvSpPr>
          <p:spPr>
            <a:xfrm>
              <a:off x="153307" y="143692"/>
              <a:ext cx="2902375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꿀팁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–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녹차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72D6607-F147-8E49-B8D8-04CA2C9AFFF7}"/>
              </a:ext>
            </a:extLst>
          </p:cNvPr>
          <p:cNvGrpSpPr/>
          <p:nvPr/>
        </p:nvGrpSpPr>
        <p:grpSpPr>
          <a:xfrm>
            <a:off x="211569" y="3509510"/>
            <a:ext cx="4739084" cy="1460964"/>
            <a:chOff x="153307" y="143692"/>
            <a:chExt cx="6792686" cy="1515291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313B6AA5-2390-EC46-B71C-39EB87057C7F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9C1AB8-D365-944B-8129-137A37DA46E5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EE54271-64DC-8C4F-B7A6-D7DACF3CE5E2}"/>
              </a:ext>
            </a:extLst>
          </p:cNvPr>
          <p:cNvGrpSpPr/>
          <p:nvPr/>
        </p:nvGrpSpPr>
        <p:grpSpPr>
          <a:xfrm>
            <a:off x="211569" y="5079435"/>
            <a:ext cx="4739084" cy="1460964"/>
            <a:chOff x="153307" y="143692"/>
            <a:chExt cx="6792686" cy="1515291"/>
          </a:xfrm>
        </p:grpSpPr>
        <p:sp>
          <p:nvSpPr>
            <p:cNvPr id="33" name="모서리가 둥근 직사각형 32">
              <a:extLst>
                <a:ext uri="{FF2B5EF4-FFF2-40B4-BE49-F238E27FC236}">
                  <a16:creationId xmlns:a16="http://schemas.microsoft.com/office/drawing/2014/main" id="{10398A91-07A5-AF4C-AFB6-034A9A1D9880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2"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F421EF-8F4B-6E44-8EF3-DF2E7F838180}"/>
                </a:ext>
              </a:extLst>
            </p:cNvPr>
            <p:cNvSpPr txBox="1"/>
            <p:nvPr/>
          </p:nvSpPr>
          <p:spPr>
            <a:xfrm>
              <a:off x="153307" y="143692"/>
              <a:ext cx="264781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en-US" altLang="ko-KR" sz="20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EB51804-2145-6B4E-ACC1-2CB59BCC59CB}"/>
              </a:ext>
            </a:extLst>
          </p:cNvPr>
          <p:cNvGrpSpPr/>
          <p:nvPr/>
        </p:nvGrpSpPr>
        <p:grpSpPr>
          <a:xfrm>
            <a:off x="5019098" y="3509510"/>
            <a:ext cx="4739084" cy="1460964"/>
            <a:chOff x="153307" y="143692"/>
            <a:chExt cx="6792686" cy="1515291"/>
          </a:xfrm>
        </p:grpSpPr>
        <p:sp>
          <p:nvSpPr>
            <p:cNvPr id="36" name="모서리가 둥근 직사각형 35">
              <a:extLst>
                <a:ext uri="{FF2B5EF4-FFF2-40B4-BE49-F238E27FC236}">
                  <a16:creationId xmlns:a16="http://schemas.microsoft.com/office/drawing/2014/main" id="{48B1EBC2-1B43-9143-9684-518030FD8192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가당딸기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200ml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연유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50g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컷팅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우유 가득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(125ml) =&gt;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섞음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E27CD88-1EB2-DE48-9F30-D7D40520F8EA}"/>
                </a:ext>
              </a:extLst>
            </p:cNvPr>
            <p:cNvSpPr txBox="1"/>
            <p:nvPr/>
          </p:nvSpPr>
          <p:spPr>
            <a:xfrm>
              <a:off x="153307" y="143692"/>
              <a:ext cx="283115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꿀팁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-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딸기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B81D283-C829-BA4D-AF42-1DE14107936A}"/>
              </a:ext>
            </a:extLst>
          </p:cNvPr>
          <p:cNvGrpSpPr/>
          <p:nvPr/>
        </p:nvGrpSpPr>
        <p:grpSpPr>
          <a:xfrm>
            <a:off x="5019098" y="5079435"/>
            <a:ext cx="4739084" cy="1460964"/>
            <a:chOff x="153307" y="143692"/>
            <a:chExt cx="6792686" cy="1515291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2CDBB449-126F-1549-BA1B-9FE378B1FC31}"/>
                </a:ext>
              </a:extLst>
            </p:cNvPr>
            <p:cNvSpPr/>
            <p:nvPr/>
          </p:nvSpPr>
          <p:spPr>
            <a:xfrm>
              <a:off x="153307" y="143692"/>
              <a:ext cx="6792686" cy="1515291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 err="1">
                  <a:solidFill>
                    <a:schemeClr val="tx1"/>
                  </a:solidFill>
                </a:rPr>
                <a:t>블렌더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오트밀크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250ml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 + 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곡물 파우더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4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+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b="1" dirty="0">
                  <a:solidFill>
                    <a:srgbClr val="C00000"/>
                  </a:solidFill>
                </a:rPr>
                <a:t>꿀 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1</a:t>
              </a:r>
              <a:r>
                <a:rPr kumimoji="1" lang="ko-KR" altLang="en-US" sz="1600" b="1" dirty="0" err="1">
                  <a:solidFill>
                    <a:srgbClr val="C00000"/>
                  </a:solidFill>
                </a:rPr>
                <a:t>래들</a:t>
              </a:r>
              <a:r>
                <a:rPr kumimoji="1" lang="en-US" altLang="ko-KR" sz="1600" b="1" dirty="0">
                  <a:solidFill>
                    <a:srgbClr val="C00000"/>
                  </a:solidFill>
                </a:rPr>
                <a:t>(26.5g)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ko-KR" altLang="en-US" sz="1600" dirty="0" err="1">
                  <a:solidFill>
                    <a:schemeClr val="tx1"/>
                  </a:solidFill>
                </a:rPr>
                <a:t>믹싱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3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번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20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컵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얼음 가득 </a:t>
              </a:r>
              <a:r>
                <a:rPr kumimoji="1" lang="en-US" altLang="ko-KR" sz="1600" dirty="0">
                  <a:solidFill>
                    <a:schemeClr val="tx1"/>
                  </a:solidFill>
                </a:rPr>
                <a:t>=&gt;</a:t>
              </a:r>
              <a:r>
                <a:rPr kumimoji="1" lang="ko-KR" altLang="en-US" sz="1600" dirty="0">
                  <a:solidFill>
                    <a:schemeClr val="tx1"/>
                  </a:solidFill>
                </a:rPr>
                <a:t> 컵에 담기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54FCEE-CE21-F14F-B55B-40FC062F5A5C}"/>
                </a:ext>
              </a:extLst>
            </p:cNvPr>
            <p:cNvSpPr txBox="1"/>
            <p:nvPr/>
          </p:nvSpPr>
          <p:spPr>
            <a:xfrm>
              <a:off x="153307" y="143692"/>
              <a:ext cx="2831150" cy="414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꿀팁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accent1">
                      <a:lumMod val="75000"/>
                    </a:schemeClr>
                  </a:solidFill>
                </a:rPr>
                <a:t>-</a:t>
              </a:r>
              <a:r>
                <a:rPr kumimoji="1" lang="ko-KR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곡물 </a:t>
              </a:r>
              <a:r>
                <a:rPr kumimoji="1" lang="ko-KR" altLang="en-US" sz="2000" b="1" dirty="0" err="1">
                  <a:solidFill>
                    <a:schemeClr val="accent1">
                      <a:lumMod val="75000"/>
                    </a:schemeClr>
                  </a:solidFill>
                </a:rPr>
                <a:t>라떼</a:t>
              </a:r>
              <a:endParaRPr kumimoji="1" lang="en-US" altLang="ko-KR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794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1479</TotalTime>
  <Words>3479</Words>
  <Application>Microsoft Macintosh PowerPoint</Application>
  <PresentationFormat>A4 용지(210x297mm)</PresentationFormat>
  <Paragraphs>268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Yongkwan</dc:creator>
  <cp:lastModifiedBy>Kim Yongkwan</cp:lastModifiedBy>
  <cp:revision>24</cp:revision>
  <dcterms:created xsi:type="dcterms:W3CDTF">2026-04-01T06:46:53Z</dcterms:created>
  <dcterms:modified xsi:type="dcterms:W3CDTF">2026-04-17T10:00:13Z</dcterms:modified>
</cp:coreProperties>
</file>